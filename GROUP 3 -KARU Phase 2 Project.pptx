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TT Interphases" panose="020B0604020202020204" charset="0"/>
      <p:regular r:id="rId15"/>
    </p:embeddedFont>
    <p:embeddedFont>
      <p:font typeface="TT Interphases Bold" panose="020B0604020202020204" charset="0"/>
      <p:regular r:id="rId16"/>
    </p:embeddedFont>
    <p:embeddedFont>
      <p:font typeface="TT Interphases Bold Italics" panose="020B0604020202020204" charset="0"/>
      <p:regular r:id="rId17"/>
    </p:embeddedFont>
    <p:embeddedFont>
      <p:font typeface="TT Interphases Italics"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hyperlink" Target="https://www.imdb.com" TargetMode="External"/><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hyperlink" Target="https://www.the-numbers.com" TargetMode="External"/><Relationship Id="rId5" Type="http://schemas.openxmlformats.org/officeDocument/2006/relationships/image" Target="../media/image18.svg"/><Relationship Id="rId10" Type="http://schemas.openxmlformats.org/officeDocument/2006/relationships/hyperlink" Target="https://www.themoviedb.org" TargetMode="External"/><Relationship Id="rId4" Type="http://schemas.openxmlformats.org/officeDocument/2006/relationships/image" Target="../media/image17.png"/><Relationship Id="rId9" Type="http://schemas.openxmlformats.org/officeDocument/2006/relationships/hyperlink" Target="https://www.rottentomatoes.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30.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37.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sv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9.sv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128293" y="1390135"/>
            <a:ext cx="6521773" cy="7088883"/>
          </a:xfrm>
          <a:custGeom>
            <a:avLst/>
            <a:gdLst/>
            <a:ahLst/>
            <a:cxnLst/>
            <a:rect l="l" t="t" r="r" b="b"/>
            <a:pathLst>
              <a:path w="6521773" h="7088883">
                <a:moveTo>
                  <a:pt x="0" y="0"/>
                </a:moveTo>
                <a:lnTo>
                  <a:pt x="6521773" y="0"/>
                </a:lnTo>
                <a:lnTo>
                  <a:pt x="6521773" y="7088883"/>
                </a:lnTo>
                <a:lnTo>
                  <a:pt x="0" y="70888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209418" y="3327015"/>
            <a:ext cx="9142981" cy="5524777"/>
          </a:xfrm>
          <a:prstGeom prst="rect">
            <a:avLst/>
          </a:prstGeom>
        </p:spPr>
        <p:txBody>
          <a:bodyPr lIns="0" tIns="0" rIns="0" bIns="0" rtlCol="0" anchor="t">
            <a:spAutoFit/>
          </a:bodyPr>
          <a:lstStyle/>
          <a:p>
            <a:pPr algn="ctr">
              <a:lnSpc>
                <a:spcPts val="3931"/>
              </a:lnSpc>
            </a:pPr>
            <a:r>
              <a:rPr lang="en-US" sz="4519" b="1" i="1" spc="-221">
                <a:solidFill>
                  <a:srgbClr val="000000"/>
                </a:solidFill>
                <a:latin typeface="TT Interphases Bold Italics"/>
                <a:ea typeface="TT Interphases Bold Italics"/>
                <a:cs typeface="TT Interphases Bold Italics"/>
                <a:sym typeface="TT Interphases Bold Italics"/>
              </a:rPr>
              <a:t>GROUP 3 - KARU.   Phase 2 Project</a:t>
            </a:r>
          </a:p>
          <a:p>
            <a:pPr algn="ctr">
              <a:lnSpc>
                <a:spcPts val="3931"/>
              </a:lnSpc>
            </a:pPr>
            <a:endParaRPr lang="en-US" sz="4519" b="1" i="1" spc="-221">
              <a:solidFill>
                <a:srgbClr val="000000"/>
              </a:solidFill>
              <a:latin typeface="TT Interphases Bold Italics"/>
              <a:ea typeface="TT Interphases Bold Italics"/>
              <a:cs typeface="TT Interphases Bold Italics"/>
              <a:sym typeface="TT Interphases Bold Italics"/>
            </a:endParaRPr>
          </a:p>
          <a:p>
            <a:pPr algn="ctr">
              <a:lnSpc>
                <a:spcPts val="3931"/>
              </a:lnSpc>
            </a:pPr>
            <a:r>
              <a:rPr lang="en-US" sz="4519" i="1" spc="-221">
                <a:solidFill>
                  <a:srgbClr val="000000"/>
                </a:solidFill>
                <a:latin typeface="TT Interphases Italics"/>
                <a:ea typeface="TT Interphases Italics"/>
                <a:cs typeface="TT Interphases Italics"/>
                <a:sym typeface="TT Interphases Italics"/>
              </a:rPr>
              <a:t>Benbellah Owino</a:t>
            </a:r>
          </a:p>
          <a:p>
            <a:pPr algn="ctr">
              <a:lnSpc>
                <a:spcPts val="3931"/>
              </a:lnSpc>
            </a:pPr>
            <a:endParaRPr lang="en-US" sz="4519" i="1" spc="-221">
              <a:solidFill>
                <a:srgbClr val="000000"/>
              </a:solidFill>
              <a:latin typeface="TT Interphases Italics"/>
              <a:ea typeface="TT Interphases Italics"/>
              <a:cs typeface="TT Interphases Italics"/>
              <a:sym typeface="TT Interphases Italics"/>
            </a:endParaRPr>
          </a:p>
          <a:p>
            <a:pPr algn="ctr">
              <a:lnSpc>
                <a:spcPts val="3931"/>
              </a:lnSpc>
            </a:pPr>
            <a:r>
              <a:rPr lang="en-US" sz="4519" i="1" spc="-221">
                <a:solidFill>
                  <a:srgbClr val="000000"/>
                </a:solidFill>
                <a:latin typeface="TT Interphases Italics"/>
                <a:ea typeface="TT Interphases Italics"/>
                <a:cs typeface="TT Interphases Italics"/>
                <a:sym typeface="TT Interphases Italics"/>
              </a:rPr>
              <a:t>Keziah Murugami</a:t>
            </a:r>
          </a:p>
          <a:p>
            <a:pPr algn="ctr">
              <a:lnSpc>
                <a:spcPts val="3931"/>
              </a:lnSpc>
            </a:pPr>
            <a:endParaRPr lang="en-US" sz="4519" i="1" spc="-221">
              <a:solidFill>
                <a:srgbClr val="000000"/>
              </a:solidFill>
              <a:latin typeface="TT Interphases Italics"/>
              <a:ea typeface="TT Interphases Italics"/>
              <a:cs typeface="TT Interphases Italics"/>
              <a:sym typeface="TT Interphases Italics"/>
            </a:endParaRPr>
          </a:p>
          <a:p>
            <a:pPr algn="ctr">
              <a:lnSpc>
                <a:spcPts val="3931"/>
              </a:lnSpc>
            </a:pPr>
            <a:r>
              <a:rPr lang="en-US" sz="4519" i="1" spc="-221">
                <a:solidFill>
                  <a:srgbClr val="000000"/>
                </a:solidFill>
                <a:latin typeface="TT Interphases Italics"/>
                <a:ea typeface="TT Interphases Italics"/>
                <a:cs typeface="TT Interphases Italics"/>
                <a:sym typeface="TT Interphases Italics"/>
              </a:rPr>
              <a:t>Marion Kung’a</a:t>
            </a:r>
          </a:p>
          <a:p>
            <a:pPr algn="ctr">
              <a:lnSpc>
                <a:spcPts val="3931"/>
              </a:lnSpc>
            </a:pPr>
            <a:endParaRPr lang="en-US" sz="4519" i="1" spc="-221">
              <a:solidFill>
                <a:srgbClr val="000000"/>
              </a:solidFill>
              <a:latin typeface="TT Interphases Italics"/>
              <a:ea typeface="TT Interphases Italics"/>
              <a:cs typeface="TT Interphases Italics"/>
              <a:sym typeface="TT Interphases Italics"/>
            </a:endParaRPr>
          </a:p>
          <a:p>
            <a:pPr algn="ctr">
              <a:lnSpc>
                <a:spcPts val="3931"/>
              </a:lnSpc>
            </a:pPr>
            <a:r>
              <a:rPr lang="en-US" sz="4519" i="1" spc="-221">
                <a:solidFill>
                  <a:srgbClr val="000000"/>
                </a:solidFill>
                <a:latin typeface="TT Interphases Italics"/>
                <a:ea typeface="TT Interphases Italics"/>
                <a:cs typeface="TT Interphases Italics"/>
                <a:sym typeface="TT Interphases Italics"/>
              </a:rPr>
              <a:t>Tricia Too</a:t>
            </a:r>
          </a:p>
          <a:p>
            <a:pPr algn="ctr">
              <a:lnSpc>
                <a:spcPts val="3931"/>
              </a:lnSpc>
            </a:pPr>
            <a:endParaRPr lang="en-US" sz="4519" i="1" spc="-221">
              <a:solidFill>
                <a:srgbClr val="000000"/>
              </a:solidFill>
              <a:latin typeface="TT Interphases Italics"/>
              <a:ea typeface="TT Interphases Italics"/>
              <a:cs typeface="TT Interphases Italics"/>
              <a:sym typeface="TT Interphases Italics"/>
            </a:endParaRPr>
          </a:p>
          <a:p>
            <a:pPr algn="ctr">
              <a:lnSpc>
                <a:spcPts val="3931"/>
              </a:lnSpc>
            </a:pPr>
            <a:r>
              <a:rPr lang="en-US" sz="4519" i="1" spc="-221">
                <a:solidFill>
                  <a:srgbClr val="000000"/>
                </a:solidFill>
                <a:latin typeface="TT Interphases Italics"/>
                <a:ea typeface="TT Interphases Italics"/>
                <a:cs typeface="TT Interphases Italics"/>
                <a:sym typeface="TT Interphases Italics"/>
              </a:rPr>
              <a:t>Crispus Mutua</a:t>
            </a:r>
          </a:p>
        </p:txBody>
      </p:sp>
      <p:sp>
        <p:nvSpPr>
          <p:cNvPr id="5" name="Freeform 5"/>
          <p:cNvSpPr/>
          <p:nvPr/>
        </p:nvSpPr>
        <p:spPr>
          <a:xfrm>
            <a:off x="5439818" y="1051112"/>
            <a:ext cx="1543050" cy="1543050"/>
          </a:xfrm>
          <a:custGeom>
            <a:avLst/>
            <a:gdLst/>
            <a:ahLst/>
            <a:cxnLst/>
            <a:rect l="l" t="t" r="r" b="b"/>
            <a:pathLst>
              <a:path w="1543050" h="1543050">
                <a:moveTo>
                  <a:pt x="0" y="0"/>
                </a:moveTo>
                <a:lnTo>
                  <a:pt x="1543050" y="0"/>
                </a:lnTo>
                <a:lnTo>
                  <a:pt x="1543050" y="1543050"/>
                </a:lnTo>
                <a:lnTo>
                  <a:pt x="0" y="15430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
        <p:nvSpPr>
          <p:cNvPr id="7" name="TextBox 7"/>
          <p:cNvSpPr txBox="1"/>
          <p:nvPr/>
        </p:nvSpPr>
        <p:spPr>
          <a:xfrm>
            <a:off x="13864636" y="9082278"/>
            <a:ext cx="4092475" cy="318515"/>
          </a:xfrm>
          <a:prstGeom prst="rect">
            <a:avLst/>
          </a:prstGeom>
        </p:spPr>
        <p:txBody>
          <a:bodyPr lIns="0" tIns="0" rIns="0" bIns="0" rtlCol="0" anchor="t">
            <a:spAutoFit/>
          </a:bodyPr>
          <a:lstStyle/>
          <a:p>
            <a:pPr algn="r">
              <a:lnSpc>
                <a:spcPts val="2261"/>
              </a:lnSpc>
            </a:pPr>
            <a:r>
              <a:rPr lang="en-US" sz="2599" spc="-127">
                <a:solidFill>
                  <a:srgbClr val="000000"/>
                </a:solidFill>
                <a:latin typeface="TT Interphases"/>
                <a:ea typeface="TT Interphases"/>
                <a:cs typeface="TT Interphases"/>
                <a:sym typeface="TT Interphases"/>
              </a:rPr>
              <a:t>17TH NOVEMBER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2245076"/>
            <a:ext cx="7548480" cy="7013224"/>
          </a:xfrm>
          <a:custGeom>
            <a:avLst/>
            <a:gdLst/>
            <a:ahLst/>
            <a:cxnLst/>
            <a:rect l="l" t="t" r="r" b="b"/>
            <a:pathLst>
              <a:path w="7548480" h="7013224">
                <a:moveTo>
                  <a:pt x="0" y="0"/>
                </a:moveTo>
                <a:lnTo>
                  <a:pt x="7548480" y="0"/>
                </a:lnTo>
                <a:lnTo>
                  <a:pt x="7548480" y="7013224"/>
                </a:lnTo>
                <a:lnTo>
                  <a:pt x="0" y="70132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6035449" y="1028700"/>
            <a:ext cx="1223851" cy="847795"/>
          </a:xfrm>
          <a:custGeom>
            <a:avLst/>
            <a:gdLst/>
            <a:ahLst/>
            <a:cxnLst/>
            <a:rect l="l" t="t" r="r" b="b"/>
            <a:pathLst>
              <a:path w="1223851" h="847795">
                <a:moveTo>
                  <a:pt x="1223851" y="0"/>
                </a:moveTo>
                <a:lnTo>
                  <a:pt x="0" y="0"/>
                </a:lnTo>
                <a:lnTo>
                  <a:pt x="0" y="847795"/>
                </a:lnTo>
                <a:lnTo>
                  <a:pt x="1223851" y="847795"/>
                </a:lnTo>
                <a:lnTo>
                  <a:pt x="1223851"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027194" y="1937144"/>
            <a:ext cx="6234058" cy="2026160"/>
          </a:xfrm>
          <a:prstGeom prst="rect">
            <a:avLst/>
          </a:prstGeom>
        </p:spPr>
        <p:txBody>
          <a:bodyPr lIns="0" tIns="0" rIns="0" bIns="0" rtlCol="0" anchor="t">
            <a:spAutoFit/>
          </a:bodyPr>
          <a:lstStyle/>
          <a:p>
            <a:pPr algn="l">
              <a:lnSpc>
                <a:spcPts val="7656"/>
              </a:lnSpc>
            </a:pPr>
            <a:r>
              <a:rPr lang="en-US" sz="8800" spc="-431">
                <a:solidFill>
                  <a:srgbClr val="000000"/>
                </a:solidFill>
                <a:latin typeface="TT Interphases"/>
                <a:ea typeface="TT Interphases"/>
                <a:cs typeface="TT Interphases"/>
                <a:sym typeface="TT Interphases"/>
              </a:rPr>
              <a:t>Business Problem</a:t>
            </a:r>
          </a:p>
        </p:txBody>
      </p:sp>
      <p:sp>
        <p:nvSpPr>
          <p:cNvPr id="6" name="TextBox 6"/>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
        <p:nvSpPr>
          <p:cNvPr id="7" name="TextBox 7"/>
          <p:cNvSpPr txBox="1"/>
          <p:nvPr/>
        </p:nvSpPr>
        <p:spPr>
          <a:xfrm>
            <a:off x="9640720" y="4507230"/>
            <a:ext cx="7007006" cy="4751070"/>
          </a:xfrm>
          <a:prstGeom prst="rect">
            <a:avLst/>
          </a:prstGeom>
        </p:spPr>
        <p:txBody>
          <a:bodyPr lIns="0" tIns="0" rIns="0" bIns="0" rtlCol="0" anchor="t">
            <a:spAutoFit/>
          </a:bodyPr>
          <a:lstStyle/>
          <a:p>
            <a:pPr algn="l">
              <a:lnSpc>
                <a:spcPts val="3779"/>
              </a:lnSpc>
            </a:pPr>
            <a:r>
              <a:rPr lang="en-US" sz="2699" spc="-132">
                <a:solidFill>
                  <a:srgbClr val="000000"/>
                </a:solidFill>
                <a:latin typeface="TT Interphases"/>
                <a:ea typeface="TT Interphases"/>
                <a:cs typeface="TT Interphases"/>
                <a:sym typeface="TT Interphases"/>
              </a:rPr>
              <a:t>Your company now sees all the big companies creating original video content and they want to get in on the fun. They have decided to create a new movie studio, but they don’t know anything about creating movies. You are charged with exploring what types of films are currently doing the best at the box office. You must then translate those findings into actionable insights that the head of your company's new movie studio can use to help decide what type of films to create.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5642370"/>
            <a:ext cx="7195906" cy="4644630"/>
          </a:xfrm>
          <a:custGeom>
            <a:avLst/>
            <a:gdLst/>
            <a:ahLst/>
            <a:cxnLst/>
            <a:rect l="l" t="t" r="r" b="b"/>
            <a:pathLst>
              <a:path w="7195906" h="4644630">
                <a:moveTo>
                  <a:pt x="0" y="0"/>
                </a:moveTo>
                <a:lnTo>
                  <a:pt x="7195906" y="0"/>
                </a:lnTo>
                <a:lnTo>
                  <a:pt x="7195906" y="4644630"/>
                </a:lnTo>
                <a:lnTo>
                  <a:pt x="0" y="4644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2644660"/>
            <a:ext cx="7577855" cy="1054610"/>
          </a:xfrm>
          <a:prstGeom prst="rect">
            <a:avLst/>
          </a:prstGeom>
        </p:spPr>
        <p:txBody>
          <a:bodyPr lIns="0" tIns="0" rIns="0" bIns="0" rtlCol="0" anchor="t">
            <a:spAutoFit/>
          </a:bodyPr>
          <a:lstStyle/>
          <a:p>
            <a:pPr algn="l">
              <a:lnSpc>
                <a:spcPts val="7656"/>
              </a:lnSpc>
            </a:pPr>
            <a:r>
              <a:rPr lang="en-US" sz="8800" spc="-431">
                <a:solidFill>
                  <a:srgbClr val="000000"/>
                </a:solidFill>
                <a:latin typeface="TT Interphases"/>
                <a:ea typeface="TT Interphases"/>
                <a:cs typeface="TT Interphases"/>
                <a:sym typeface="TT Interphases"/>
              </a:rPr>
              <a:t>Objectives</a:t>
            </a:r>
          </a:p>
        </p:txBody>
      </p:sp>
      <p:sp>
        <p:nvSpPr>
          <p:cNvPr id="5" name="TextBox 5"/>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
        <p:nvSpPr>
          <p:cNvPr id="6" name="TextBox 6"/>
          <p:cNvSpPr txBox="1"/>
          <p:nvPr/>
        </p:nvSpPr>
        <p:spPr>
          <a:xfrm>
            <a:off x="11110570" y="1407997"/>
            <a:ext cx="4343672" cy="1835151"/>
          </a:xfrm>
          <a:prstGeom prst="rect">
            <a:avLst/>
          </a:prstGeom>
        </p:spPr>
        <p:txBody>
          <a:bodyPr lIns="0" tIns="0" rIns="0" bIns="0" rtlCol="0" anchor="t">
            <a:spAutoFit/>
          </a:bodyPr>
          <a:lstStyle/>
          <a:p>
            <a:pPr algn="l">
              <a:lnSpc>
                <a:spcPts val="4899"/>
              </a:lnSpc>
            </a:pPr>
            <a:r>
              <a:rPr lang="en-US" sz="3499" b="1" spc="-171">
                <a:solidFill>
                  <a:srgbClr val="000000"/>
                </a:solidFill>
                <a:latin typeface="TT Interphases Bold"/>
                <a:ea typeface="TT Interphases Bold"/>
                <a:cs typeface="TT Interphases Bold"/>
                <a:sym typeface="TT Interphases Bold"/>
              </a:rPr>
              <a:t>Identify High Performing Movie Genres</a:t>
            </a:r>
          </a:p>
        </p:txBody>
      </p:sp>
      <p:sp>
        <p:nvSpPr>
          <p:cNvPr id="7" name="TextBox 7"/>
          <p:cNvSpPr txBox="1"/>
          <p:nvPr/>
        </p:nvSpPr>
        <p:spPr>
          <a:xfrm>
            <a:off x="11110570" y="4152575"/>
            <a:ext cx="4343672" cy="1216026"/>
          </a:xfrm>
          <a:prstGeom prst="rect">
            <a:avLst/>
          </a:prstGeom>
        </p:spPr>
        <p:txBody>
          <a:bodyPr lIns="0" tIns="0" rIns="0" bIns="0" rtlCol="0" anchor="t">
            <a:spAutoFit/>
          </a:bodyPr>
          <a:lstStyle/>
          <a:p>
            <a:pPr algn="l">
              <a:lnSpc>
                <a:spcPts val="4899"/>
              </a:lnSpc>
            </a:pPr>
            <a:r>
              <a:rPr lang="en-US" sz="3499" b="1" spc="-171">
                <a:solidFill>
                  <a:srgbClr val="000000"/>
                </a:solidFill>
                <a:latin typeface="TT Interphases Bold"/>
                <a:ea typeface="TT Interphases Bold"/>
                <a:cs typeface="TT Interphases Bold"/>
                <a:sym typeface="TT Interphases Bold"/>
              </a:rPr>
              <a:t>Analyze Audience and Market Trends</a:t>
            </a:r>
          </a:p>
        </p:txBody>
      </p:sp>
      <p:sp>
        <p:nvSpPr>
          <p:cNvPr id="8" name="TextBox 8"/>
          <p:cNvSpPr txBox="1"/>
          <p:nvPr/>
        </p:nvSpPr>
        <p:spPr>
          <a:xfrm>
            <a:off x="11110570" y="6748659"/>
            <a:ext cx="4658812" cy="1216026"/>
          </a:xfrm>
          <a:prstGeom prst="rect">
            <a:avLst/>
          </a:prstGeom>
        </p:spPr>
        <p:txBody>
          <a:bodyPr lIns="0" tIns="0" rIns="0" bIns="0" rtlCol="0" anchor="t">
            <a:spAutoFit/>
          </a:bodyPr>
          <a:lstStyle/>
          <a:p>
            <a:pPr algn="l">
              <a:lnSpc>
                <a:spcPts val="4899"/>
              </a:lnSpc>
            </a:pPr>
            <a:r>
              <a:rPr lang="en-US" sz="3499" b="1" spc="-171">
                <a:solidFill>
                  <a:srgbClr val="000000"/>
                </a:solidFill>
                <a:latin typeface="TT Interphases Bold"/>
                <a:ea typeface="TT Interphases Bold"/>
                <a:cs typeface="TT Interphases Bold"/>
                <a:sym typeface="TT Interphases Bold"/>
              </a:rPr>
              <a:t>Identify Top Performing Studios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629974" y="3147267"/>
            <a:ext cx="6629326" cy="6111033"/>
          </a:xfrm>
          <a:custGeom>
            <a:avLst/>
            <a:gdLst/>
            <a:ahLst/>
            <a:cxnLst/>
            <a:rect l="l" t="t" r="r" b="b"/>
            <a:pathLst>
              <a:path w="6629326" h="6111033">
                <a:moveTo>
                  <a:pt x="0" y="0"/>
                </a:moveTo>
                <a:lnTo>
                  <a:pt x="6629326" y="0"/>
                </a:lnTo>
                <a:lnTo>
                  <a:pt x="6629326" y="6111033"/>
                </a:lnTo>
                <a:lnTo>
                  <a:pt x="0" y="61110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2130731" y="-184836"/>
            <a:ext cx="969594" cy="3396666"/>
          </a:xfrm>
          <a:custGeom>
            <a:avLst/>
            <a:gdLst/>
            <a:ahLst/>
            <a:cxnLst/>
            <a:rect l="l" t="t" r="r" b="b"/>
            <a:pathLst>
              <a:path w="969594" h="3396666">
                <a:moveTo>
                  <a:pt x="0" y="0"/>
                </a:moveTo>
                <a:lnTo>
                  <a:pt x="969594" y="0"/>
                </a:lnTo>
                <a:lnTo>
                  <a:pt x="969594" y="3396666"/>
                </a:lnTo>
                <a:lnTo>
                  <a:pt x="0" y="33966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06928" y="1585020"/>
            <a:ext cx="9601274" cy="1054610"/>
          </a:xfrm>
          <a:prstGeom prst="rect">
            <a:avLst/>
          </a:prstGeom>
        </p:spPr>
        <p:txBody>
          <a:bodyPr lIns="0" tIns="0" rIns="0" bIns="0" rtlCol="0" anchor="t">
            <a:spAutoFit/>
          </a:bodyPr>
          <a:lstStyle/>
          <a:p>
            <a:pPr algn="l">
              <a:lnSpc>
                <a:spcPts val="7656"/>
              </a:lnSpc>
            </a:pPr>
            <a:r>
              <a:rPr lang="en-US" sz="8800" spc="-431" dirty="0">
                <a:solidFill>
                  <a:srgbClr val="000000"/>
                </a:solidFill>
                <a:latin typeface="TT Interphases"/>
                <a:ea typeface="TT Interphases"/>
                <a:cs typeface="TT Interphases"/>
                <a:sym typeface="TT Interphases"/>
              </a:rPr>
              <a:t>Data Description</a:t>
            </a:r>
          </a:p>
        </p:txBody>
      </p:sp>
      <p:sp>
        <p:nvSpPr>
          <p:cNvPr id="6" name="TextBox 6"/>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
        <p:nvSpPr>
          <p:cNvPr id="7" name="TextBox 7"/>
          <p:cNvSpPr txBox="1"/>
          <p:nvPr/>
        </p:nvSpPr>
        <p:spPr>
          <a:xfrm>
            <a:off x="1028700" y="2639630"/>
            <a:ext cx="7376823" cy="6427914"/>
          </a:xfrm>
          <a:prstGeom prst="rect">
            <a:avLst/>
          </a:prstGeom>
        </p:spPr>
        <p:txBody>
          <a:bodyPr lIns="0" tIns="0" rIns="0" bIns="0" rtlCol="0" anchor="t">
            <a:spAutoFit/>
          </a:bodyPr>
          <a:lstStyle/>
          <a:p>
            <a:pPr algn="l">
              <a:lnSpc>
                <a:spcPts val="3639"/>
              </a:lnSpc>
            </a:pPr>
            <a:r>
              <a:rPr lang="en-US" sz="2599" spc="-127" dirty="0">
                <a:solidFill>
                  <a:srgbClr val="000000"/>
                </a:solidFill>
                <a:latin typeface="TT Interphases"/>
                <a:ea typeface="TT Interphases"/>
                <a:cs typeface="TT Interphases"/>
                <a:sym typeface="TT Interphases"/>
              </a:rPr>
              <a:t>Data used is from many sources and includes information such as  movie titles, budgets, revenue, genre, synopsis, studio  and directors. </a:t>
            </a:r>
          </a:p>
          <a:p>
            <a:pPr algn="l">
              <a:lnSpc>
                <a:spcPts val="3639"/>
              </a:lnSpc>
            </a:pPr>
            <a:endParaRPr lang="en-US" sz="2599" spc="-127" dirty="0">
              <a:solidFill>
                <a:srgbClr val="000000"/>
              </a:solidFill>
              <a:latin typeface="TT Interphases"/>
              <a:ea typeface="TT Interphases"/>
              <a:cs typeface="TT Interphases"/>
              <a:sym typeface="TT Interphases"/>
            </a:endParaRPr>
          </a:p>
          <a:p>
            <a:pPr algn="l">
              <a:lnSpc>
                <a:spcPts val="3639"/>
              </a:lnSpc>
            </a:pPr>
            <a:r>
              <a:rPr lang="en-US" sz="2599" spc="-127" dirty="0">
                <a:solidFill>
                  <a:srgbClr val="000000"/>
                </a:solidFill>
                <a:latin typeface="TT Interphases"/>
                <a:ea typeface="TT Interphases"/>
                <a:cs typeface="TT Interphases"/>
                <a:sym typeface="TT Interphases"/>
              </a:rPr>
              <a:t>The movie datasets are from:</a:t>
            </a:r>
          </a:p>
          <a:p>
            <a:pPr algn="l">
              <a:lnSpc>
                <a:spcPts val="3639"/>
              </a:lnSpc>
            </a:pPr>
            <a:endParaRPr lang="en-US" sz="2599" spc="-127" dirty="0">
              <a:solidFill>
                <a:srgbClr val="000000"/>
              </a:solidFill>
              <a:latin typeface="TT Interphases"/>
              <a:ea typeface="TT Interphases"/>
              <a:cs typeface="TT Interphases"/>
              <a:sym typeface="TT Interphases"/>
            </a:endParaRPr>
          </a:p>
          <a:p>
            <a:pPr marL="561337" lvl="1" indent="-280669">
              <a:lnSpc>
                <a:spcPts val="3639"/>
              </a:lnSpc>
              <a:buFont typeface="Arial"/>
              <a:buChar char="•"/>
            </a:pPr>
            <a:r>
              <a:rPr lang="en-US" sz="2000" u="sng" spc="-127" dirty="0">
                <a:solidFill>
                  <a:srgbClr val="000000"/>
                </a:solidFill>
                <a:latin typeface="TT Interphases"/>
                <a:ea typeface="TT Interphases"/>
                <a:cs typeface="TT Interphases"/>
                <a:sym typeface="TT Interphases"/>
              </a:rPr>
              <a:t>Box Office Mojo - </a:t>
            </a:r>
            <a:r>
              <a:rPr lang="en-US" sz="2000" spc="-127" dirty="0">
                <a:solidFill>
                  <a:srgbClr val="000000"/>
                </a:solidFill>
                <a:latin typeface="TT Interphases"/>
                <a:ea typeface="TT Interphases"/>
                <a:cs typeface="TT Interphases"/>
                <a:sym typeface="TT Interphases"/>
              </a:rPr>
              <a:t> a website that tracks box office revenue for films, providing detailed statistics and analysis of movie earnings</a:t>
            </a:r>
          </a:p>
          <a:p>
            <a:pPr marL="561337" lvl="1" indent="-280669">
              <a:lnSpc>
                <a:spcPts val="3639"/>
              </a:lnSpc>
              <a:buFont typeface="Arial"/>
              <a:buChar char="•"/>
            </a:pPr>
            <a:r>
              <a:rPr lang="en-US" sz="2000" u="sng" spc="-127" dirty="0">
                <a:solidFill>
                  <a:srgbClr val="000000"/>
                </a:solidFill>
                <a:latin typeface="TT Interphases"/>
                <a:ea typeface="TT Interphases"/>
                <a:cs typeface="TT Interphases"/>
                <a:sym typeface="TT Interphases"/>
                <a:hlinkClick r:id="rId8" tooltip="https://www.imdb.com"/>
              </a:rPr>
              <a:t>IMDB -  an online database of information related to films, television series, podcasts, video games, and streaming content online </a:t>
            </a:r>
          </a:p>
          <a:p>
            <a:pPr marL="561337" lvl="1" indent="-280669">
              <a:lnSpc>
                <a:spcPts val="3639"/>
              </a:lnSpc>
              <a:buFont typeface="Arial"/>
              <a:buChar char="•"/>
            </a:pPr>
            <a:r>
              <a:rPr lang="en-US" sz="2000" u="sng" spc="-127" dirty="0">
                <a:solidFill>
                  <a:srgbClr val="000000"/>
                </a:solidFill>
                <a:latin typeface="TT Interphases"/>
                <a:ea typeface="TT Interphases"/>
                <a:cs typeface="TT Interphases"/>
                <a:sym typeface="TT Interphases"/>
                <a:hlinkClick r:id="rId9" tooltip="https://www.rottentomatoes.com"/>
              </a:rPr>
              <a:t>Rotten Tomatoes-  review-aggregation website for film and television.</a:t>
            </a:r>
          </a:p>
          <a:p>
            <a:pPr marL="561337" lvl="1" indent="-280669">
              <a:lnSpc>
                <a:spcPts val="3639"/>
              </a:lnSpc>
              <a:buFont typeface="Arial"/>
              <a:buChar char="•"/>
            </a:pPr>
            <a:r>
              <a:rPr lang="en-US" sz="2000" u="sng" spc="-127" dirty="0" err="1">
                <a:solidFill>
                  <a:srgbClr val="000000"/>
                </a:solidFill>
                <a:latin typeface="TT Interphases"/>
                <a:ea typeface="TT Interphases"/>
                <a:cs typeface="TT Interphases"/>
                <a:sym typeface="TT Interphases"/>
                <a:hlinkClick r:id="rId10" tooltip="https://www.themoviedb.org"/>
              </a:rPr>
              <a:t>TheMovieDB</a:t>
            </a:r>
            <a:r>
              <a:rPr lang="en-US" sz="2000" u="sng" spc="-127" dirty="0">
                <a:solidFill>
                  <a:srgbClr val="000000"/>
                </a:solidFill>
                <a:latin typeface="TT Interphases"/>
                <a:ea typeface="TT Interphases"/>
                <a:cs typeface="TT Interphases"/>
                <a:sym typeface="TT Interphases"/>
                <a:hlinkClick r:id="rId10" tooltip="https://www.themoviedb.org"/>
              </a:rPr>
              <a:t> - a community-built movie and TV database</a:t>
            </a:r>
          </a:p>
          <a:p>
            <a:pPr marL="561337" lvl="1" indent="-280669" algn="l">
              <a:lnSpc>
                <a:spcPts val="3639"/>
              </a:lnSpc>
              <a:buFont typeface="Arial"/>
              <a:buChar char="•"/>
            </a:pPr>
            <a:r>
              <a:rPr lang="en-US" sz="2000" u="sng" spc="-127" dirty="0">
                <a:solidFill>
                  <a:srgbClr val="000000"/>
                </a:solidFill>
                <a:latin typeface="TT Interphases"/>
                <a:ea typeface="TT Interphases"/>
                <a:cs typeface="TT Interphases"/>
                <a:sym typeface="TT Interphases"/>
                <a:hlinkClick r:id="rId11" tooltip="https://www.the-numbers.com"/>
              </a:rPr>
              <a:t>The Numbers</a:t>
            </a:r>
          </a:p>
          <a:p>
            <a:pPr algn="l">
              <a:lnSpc>
                <a:spcPts val="3639"/>
              </a:lnSpc>
            </a:pPr>
            <a:endParaRPr lang="en-US" sz="2599" u="sng" spc="-127" dirty="0">
              <a:solidFill>
                <a:srgbClr val="000000"/>
              </a:solidFill>
              <a:latin typeface="TT Interphases"/>
              <a:ea typeface="TT Interphases"/>
              <a:cs typeface="TT Interphases"/>
              <a:sym typeface="TT Interphases"/>
              <a:hlinkClick r:id="rId11" tooltip="https://www.the-numbers.co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3506416"/>
            <a:ext cx="6730928" cy="5751884"/>
          </a:xfrm>
          <a:custGeom>
            <a:avLst/>
            <a:gdLst/>
            <a:ahLst/>
            <a:cxnLst/>
            <a:rect l="l" t="t" r="r" b="b"/>
            <a:pathLst>
              <a:path w="6730928" h="5751884">
                <a:moveTo>
                  <a:pt x="0" y="0"/>
                </a:moveTo>
                <a:lnTo>
                  <a:pt x="6730928" y="0"/>
                </a:lnTo>
                <a:lnTo>
                  <a:pt x="6730928" y="5751884"/>
                </a:lnTo>
                <a:lnTo>
                  <a:pt x="0" y="57518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7323685" y="1336862"/>
            <a:ext cx="7639639" cy="1054610"/>
          </a:xfrm>
          <a:prstGeom prst="rect">
            <a:avLst/>
          </a:prstGeom>
        </p:spPr>
        <p:txBody>
          <a:bodyPr lIns="0" tIns="0" rIns="0" bIns="0" rtlCol="0" anchor="t">
            <a:spAutoFit/>
          </a:bodyPr>
          <a:lstStyle/>
          <a:p>
            <a:pPr algn="l">
              <a:lnSpc>
                <a:spcPts val="7656"/>
              </a:lnSpc>
            </a:pPr>
            <a:r>
              <a:rPr lang="en-US" sz="8800" spc="-431">
                <a:solidFill>
                  <a:srgbClr val="000000"/>
                </a:solidFill>
                <a:latin typeface="TT Interphases"/>
                <a:ea typeface="TT Interphases"/>
                <a:cs typeface="TT Interphases"/>
                <a:sym typeface="TT Interphases"/>
              </a:rPr>
              <a:t>Process Steps</a:t>
            </a:r>
          </a:p>
        </p:txBody>
      </p:sp>
      <p:sp>
        <p:nvSpPr>
          <p:cNvPr id="5" name="TextBox 5"/>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
        <p:nvSpPr>
          <p:cNvPr id="6" name="Freeform 6"/>
          <p:cNvSpPr/>
          <p:nvPr/>
        </p:nvSpPr>
        <p:spPr>
          <a:xfrm flipH="1" flipV="1">
            <a:off x="16822619" y="1028700"/>
            <a:ext cx="436681" cy="339023"/>
          </a:xfrm>
          <a:custGeom>
            <a:avLst/>
            <a:gdLst/>
            <a:ahLst/>
            <a:cxnLst/>
            <a:rect l="l" t="t" r="r" b="b"/>
            <a:pathLst>
              <a:path w="436681" h="339023">
                <a:moveTo>
                  <a:pt x="436681" y="339023"/>
                </a:moveTo>
                <a:lnTo>
                  <a:pt x="0" y="339023"/>
                </a:lnTo>
                <a:lnTo>
                  <a:pt x="0" y="0"/>
                </a:lnTo>
                <a:lnTo>
                  <a:pt x="436681" y="0"/>
                </a:lnTo>
                <a:lnTo>
                  <a:pt x="436681" y="339023"/>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8313347" y="4238971"/>
            <a:ext cx="7601556" cy="2291125"/>
          </a:xfrm>
          <a:prstGeom prst="rect">
            <a:avLst/>
          </a:prstGeom>
        </p:spPr>
        <p:txBody>
          <a:bodyPr lIns="0" tIns="0" rIns="0" bIns="0" rtlCol="0" anchor="t">
            <a:spAutoFit/>
          </a:bodyPr>
          <a:lstStyle/>
          <a:p>
            <a:pPr algn="ctr">
              <a:lnSpc>
                <a:spcPts val="4542"/>
              </a:lnSpc>
            </a:pPr>
            <a:r>
              <a:rPr lang="en-US" sz="3244" spc="-158">
                <a:solidFill>
                  <a:srgbClr val="000000"/>
                </a:solidFill>
                <a:latin typeface="TT Interphases"/>
                <a:ea typeface="TT Interphases"/>
                <a:cs typeface="TT Interphases"/>
                <a:sym typeface="TT Interphases"/>
              </a:rPr>
              <a:t>We followed the following steps:</a:t>
            </a:r>
          </a:p>
          <a:p>
            <a:pPr marL="700504" lvl="1" indent="-350252" algn="ctr">
              <a:lnSpc>
                <a:spcPts val="4542"/>
              </a:lnSpc>
              <a:buFont typeface="Arial"/>
              <a:buChar char="•"/>
            </a:pPr>
            <a:r>
              <a:rPr lang="en-US" sz="3244" spc="-158">
                <a:solidFill>
                  <a:srgbClr val="000000"/>
                </a:solidFill>
                <a:latin typeface="TT Interphases"/>
                <a:ea typeface="TT Interphases"/>
                <a:cs typeface="TT Interphases"/>
                <a:sym typeface="TT Interphases"/>
              </a:rPr>
              <a:t>Data Loading</a:t>
            </a:r>
          </a:p>
          <a:p>
            <a:pPr marL="700504" lvl="1" indent="-350252" algn="ctr">
              <a:lnSpc>
                <a:spcPts val="4542"/>
              </a:lnSpc>
              <a:buFont typeface="Arial"/>
              <a:buChar char="•"/>
            </a:pPr>
            <a:r>
              <a:rPr lang="en-US" sz="3244" spc="-158">
                <a:solidFill>
                  <a:srgbClr val="000000"/>
                </a:solidFill>
                <a:latin typeface="TT Interphases"/>
                <a:ea typeface="TT Interphases"/>
                <a:cs typeface="TT Interphases"/>
                <a:sym typeface="TT Interphases"/>
              </a:rPr>
              <a:t>Data Cleaning</a:t>
            </a:r>
          </a:p>
          <a:p>
            <a:pPr marL="725522" lvl="1" indent="-362761" algn="ctr">
              <a:lnSpc>
                <a:spcPts val="4704"/>
              </a:lnSpc>
              <a:spcBef>
                <a:spcPct val="0"/>
              </a:spcBef>
              <a:buFont typeface="Arial"/>
              <a:buChar char="•"/>
            </a:pPr>
            <a:r>
              <a:rPr lang="en-US" sz="3360" spc="-164">
                <a:solidFill>
                  <a:srgbClr val="000000"/>
                </a:solidFill>
                <a:latin typeface="TT Interphases"/>
                <a:ea typeface="TT Interphases"/>
                <a:cs typeface="TT Interphases"/>
                <a:sym typeface="TT Interphases"/>
              </a:rPr>
              <a:t>Data Analysis and Visualization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582925" y="1938011"/>
            <a:ext cx="7434401" cy="4636363"/>
          </a:xfrm>
          <a:custGeom>
            <a:avLst/>
            <a:gdLst/>
            <a:ahLst/>
            <a:cxnLst/>
            <a:rect l="l" t="t" r="r" b="b"/>
            <a:pathLst>
              <a:path w="7434401" h="4636363">
                <a:moveTo>
                  <a:pt x="0" y="0"/>
                </a:moveTo>
                <a:lnTo>
                  <a:pt x="7434401" y="0"/>
                </a:lnTo>
                <a:lnTo>
                  <a:pt x="7434401" y="4636363"/>
                </a:lnTo>
                <a:lnTo>
                  <a:pt x="0" y="46363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7430412"/>
            <a:ext cx="6234058" cy="2026160"/>
          </a:xfrm>
          <a:prstGeom prst="rect">
            <a:avLst/>
          </a:prstGeom>
        </p:spPr>
        <p:txBody>
          <a:bodyPr lIns="0" tIns="0" rIns="0" bIns="0" rtlCol="0" anchor="t">
            <a:spAutoFit/>
          </a:bodyPr>
          <a:lstStyle/>
          <a:p>
            <a:pPr algn="l">
              <a:lnSpc>
                <a:spcPts val="7656"/>
              </a:lnSpc>
            </a:pPr>
            <a:r>
              <a:rPr lang="en-US" sz="8800" spc="-431">
                <a:solidFill>
                  <a:srgbClr val="000000"/>
                </a:solidFill>
                <a:latin typeface="TT Interphases"/>
                <a:ea typeface="TT Interphases"/>
                <a:cs typeface="TT Interphases"/>
                <a:sym typeface="TT Interphases"/>
              </a:rPr>
              <a:t>Process Steps</a:t>
            </a:r>
          </a:p>
        </p:txBody>
      </p:sp>
      <p:sp>
        <p:nvSpPr>
          <p:cNvPr id="5" name="TextBox 5"/>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
        <p:nvSpPr>
          <p:cNvPr id="6" name="TextBox 6"/>
          <p:cNvSpPr txBox="1"/>
          <p:nvPr/>
        </p:nvSpPr>
        <p:spPr>
          <a:xfrm>
            <a:off x="12164616" y="2666787"/>
            <a:ext cx="5462411" cy="1736725"/>
          </a:xfrm>
          <a:prstGeom prst="rect">
            <a:avLst/>
          </a:prstGeom>
        </p:spPr>
        <p:txBody>
          <a:bodyPr lIns="0" tIns="0" rIns="0" bIns="0" rtlCol="0" anchor="t">
            <a:spAutoFit/>
          </a:bodyPr>
          <a:lstStyle/>
          <a:p>
            <a:pPr algn="l">
              <a:lnSpc>
                <a:spcPts val="3499"/>
              </a:lnSpc>
            </a:pPr>
            <a:r>
              <a:rPr lang="en-US" sz="2499" spc="-122">
                <a:solidFill>
                  <a:srgbClr val="000000"/>
                </a:solidFill>
                <a:latin typeface="TT Interphases"/>
                <a:ea typeface="TT Interphases"/>
                <a:cs typeface="TT Interphases"/>
                <a:sym typeface="TT Interphases"/>
              </a:rPr>
              <a:t>In the Data Loading step, we loaded the datasets into pandas to create dataframes that we used in the subsequent processes of the project.</a:t>
            </a:r>
          </a:p>
        </p:txBody>
      </p:sp>
      <p:sp>
        <p:nvSpPr>
          <p:cNvPr id="7" name="TextBox 7"/>
          <p:cNvSpPr txBox="1"/>
          <p:nvPr/>
        </p:nvSpPr>
        <p:spPr>
          <a:xfrm>
            <a:off x="11796889" y="7234595"/>
            <a:ext cx="5462411" cy="1736725"/>
          </a:xfrm>
          <a:prstGeom prst="rect">
            <a:avLst/>
          </a:prstGeom>
        </p:spPr>
        <p:txBody>
          <a:bodyPr lIns="0" tIns="0" rIns="0" bIns="0" rtlCol="0" anchor="t">
            <a:spAutoFit/>
          </a:bodyPr>
          <a:lstStyle/>
          <a:p>
            <a:pPr algn="l">
              <a:lnSpc>
                <a:spcPts val="3499"/>
              </a:lnSpc>
            </a:pPr>
            <a:r>
              <a:rPr lang="en-US" sz="2499" spc="-122">
                <a:solidFill>
                  <a:srgbClr val="000000"/>
                </a:solidFill>
                <a:latin typeface="TT Interphases"/>
                <a:ea typeface="TT Interphases"/>
                <a:cs typeface="TT Interphases"/>
                <a:sym typeface="TT Interphases"/>
              </a:rPr>
              <a:t>We dropped duplicates, handled missing values by dropping and filling where applicable and converted columns into  more usable format</a:t>
            </a:r>
          </a:p>
        </p:txBody>
      </p:sp>
      <p:sp>
        <p:nvSpPr>
          <p:cNvPr id="8" name="TextBox 8"/>
          <p:cNvSpPr txBox="1"/>
          <p:nvPr/>
        </p:nvSpPr>
        <p:spPr>
          <a:xfrm>
            <a:off x="11796889" y="1381352"/>
            <a:ext cx="5462411" cy="762002"/>
          </a:xfrm>
          <a:prstGeom prst="rect">
            <a:avLst/>
          </a:prstGeom>
        </p:spPr>
        <p:txBody>
          <a:bodyPr lIns="0" tIns="0" rIns="0" bIns="0" rtlCol="0" anchor="t">
            <a:spAutoFit/>
          </a:bodyPr>
          <a:lstStyle/>
          <a:p>
            <a:pPr algn="ctr">
              <a:lnSpc>
                <a:spcPts val="6299"/>
              </a:lnSpc>
              <a:spcBef>
                <a:spcPct val="0"/>
              </a:spcBef>
            </a:pPr>
            <a:r>
              <a:rPr lang="en-US" sz="4499" spc="-220">
                <a:solidFill>
                  <a:srgbClr val="000000"/>
                </a:solidFill>
                <a:latin typeface="TT Interphases"/>
                <a:ea typeface="TT Interphases"/>
                <a:cs typeface="TT Interphases"/>
                <a:sym typeface="TT Interphases"/>
              </a:rPr>
              <a:t>Data Loading</a:t>
            </a:r>
          </a:p>
        </p:txBody>
      </p:sp>
      <p:sp>
        <p:nvSpPr>
          <p:cNvPr id="9" name="TextBox 9"/>
          <p:cNvSpPr txBox="1"/>
          <p:nvPr/>
        </p:nvSpPr>
        <p:spPr>
          <a:xfrm>
            <a:off x="13033979" y="5721879"/>
            <a:ext cx="2988231" cy="705486"/>
          </a:xfrm>
          <a:prstGeom prst="rect">
            <a:avLst/>
          </a:prstGeom>
        </p:spPr>
        <p:txBody>
          <a:bodyPr lIns="0" tIns="0" rIns="0" bIns="0" rtlCol="0" anchor="t">
            <a:spAutoFit/>
          </a:bodyPr>
          <a:lstStyle/>
          <a:p>
            <a:pPr algn="ctr">
              <a:lnSpc>
                <a:spcPts val="5739"/>
              </a:lnSpc>
              <a:spcBef>
                <a:spcPct val="0"/>
              </a:spcBef>
            </a:pPr>
            <a:r>
              <a:rPr lang="en-US" sz="4099" spc="-200">
                <a:solidFill>
                  <a:srgbClr val="000000"/>
                </a:solidFill>
                <a:latin typeface="TT Interphases"/>
                <a:ea typeface="TT Interphases"/>
                <a:cs typeface="TT Interphases"/>
                <a:sym typeface="TT Interphases"/>
              </a:rPr>
              <a:t>Data  Cleaning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603576" y="7295361"/>
            <a:ext cx="291723" cy="202084"/>
          </a:xfrm>
          <a:custGeom>
            <a:avLst/>
            <a:gdLst/>
            <a:ahLst/>
            <a:cxnLst/>
            <a:rect l="l" t="t" r="r" b="b"/>
            <a:pathLst>
              <a:path w="291723" h="202084">
                <a:moveTo>
                  <a:pt x="0" y="0"/>
                </a:moveTo>
                <a:lnTo>
                  <a:pt x="291723" y="0"/>
                </a:lnTo>
                <a:lnTo>
                  <a:pt x="291723" y="202085"/>
                </a:lnTo>
                <a:lnTo>
                  <a:pt x="0" y="202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826110" y="2251040"/>
            <a:ext cx="7193539" cy="2026160"/>
          </a:xfrm>
          <a:prstGeom prst="rect">
            <a:avLst/>
          </a:prstGeom>
        </p:spPr>
        <p:txBody>
          <a:bodyPr lIns="0" tIns="0" rIns="0" bIns="0" rtlCol="0" anchor="t">
            <a:spAutoFit/>
          </a:bodyPr>
          <a:lstStyle/>
          <a:p>
            <a:pPr algn="l">
              <a:lnSpc>
                <a:spcPts val="7656"/>
              </a:lnSpc>
            </a:pPr>
            <a:r>
              <a:rPr lang="en-US" sz="8800" spc="-431">
                <a:solidFill>
                  <a:srgbClr val="000000"/>
                </a:solidFill>
                <a:latin typeface="TT Interphases"/>
                <a:ea typeface="TT Interphases"/>
                <a:cs typeface="TT Interphases"/>
                <a:sym typeface="TT Interphases"/>
              </a:rPr>
              <a:t>Data Analysis Process</a:t>
            </a:r>
          </a:p>
        </p:txBody>
      </p:sp>
      <p:sp>
        <p:nvSpPr>
          <p:cNvPr id="5" name="TextBox 5"/>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
        <p:nvSpPr>
          <p:cNvPr id="6" name="TextBox 6"/>
          <p:cNvSpPr txBox="1"/>
          <p:nvPr/>
        </p:nvSpPr>
        <p:spPr>
          <a:xfrm>
            <a:off x="826110" y="7724872"/>
            <a:ext cx="4273073" cy="860425"/>
          </a:xfrm>
          <a:prstGeom prst="rect">
            <a:avLst/>
          </a:prstGeom>
        </p:spPr>
        <p:txBody>
          <a:bodyPr lIns="0" tIns="0" rIns="0" bIns="0" rtlCol="0" anchor="t">
            <a:spAutoFit/>
          </a:bodyPr>
          <a:lstStyle/>
          <a:p>
            <a:pPr algn="l">
              <a:lnSpc>
                <a:spcPts val="3499"/>
              </a:lnSpc>
            </a:pPr>
            <a:r>
              <a:rPr lang="en-US" sz="2499" spc="-122">
                <a:solidFill>
                  <a:srgbClr val="000000"/>
                </a:solidFill>
                <a:latin typeface="TT Interphases"/>
                <a:ea typeface="TT Interphases"/>
                <a:cs typeface="TT Interphases"/>
                <a:sym typeface="TT Interphases"/>
              </a:rPr>
              <a:t>Created charts to visualize data and trends</a:t>
            </a:r>
          </a:p>
        </p:txBody>
      </p:sp>
      <p:sp>
        <p:nvSpPr>
          <p:cNvPr id="7" name="TextBox 7"/>
          <p:cNvSpPr txBox="1"/>
          <p:nvPr/>
        </p:nvSpPr>
        <p:spPr>
          <a:xfrm>
            <a:off x="826110" y="6309870"/>
            <a:ext cx="3133681" cy="596901"/>
          </a:xfrm>
          <a:prstGeom prst="rect">
            <a:avLst/>
          </a:prstGeom>
        </p:spPr>
        <p:txBody>
          <a:bodyPr lIns="0" tIns="0" rIns="0" bIns="0" rtlCol="0" anchor="t">
            <a:spAutoFit/>
          </a:bodyPr>
          <a:lstStyle/>
          <a:p>
            <a:pPr algn="l">
              <a:lnSpc>
                <a:spcPts val="4899"/>
              </a:lnSpc>
            </a:pPr>
            <a:r>
              <a:rPr lang="en-US" sz="3499" b="1" spc="-171">
                <a:solidFill>
                  <a:srgbClr val="000000"/>
                </a:solidFill>
                <a:latin typeface="TT Interphases Bold"/>
                <a:ea typeface="TT Interphases Bold"/>
                <a:cs typeface="TT Interphases Bold"/>
                <a:sym typeface="TT Interphases Bold"/>
              </a:rPr>
              <a:t>Visualizations</a:t>
            </a:r>
          </a:p>
        </p:txBody>
      </p:sp>
      <p:sp>
        <p:nvSpPr>
          <p:cNvPr id="8" name="TextBox 8"/>
          <p:cNvSpPr txBox="1"/>
          <p:nvPr/>
        </p:nvSpPr>
        <p:spPr>
          <a:xfrm>
            <a:off x="7007463" y="7724872"/>
            <a:ext cx="4273073" cy="860425"/>
          </a:xfrm>
          <a:prstGeom prst="rect">
            <a:avLst/>
          </a:prstGeom>
        </p:spPr>
        <p:txBody>
          <a:bodyPr lIns="0" tIns="0" rIns="0" bIns="0" rtlCol="0" anchor="t">
            <a:spAutoFit/>
          </a:bodyPr>
          <a:lstStyle/>
          <a:p>
            <a:pPr algn="l">
              <a:lnSpc>
                <a:spcPts val="3499"/>
              </a:lnSpc>
            </a:pPr>
            <a:r>
              <a:rPr lang="en-US" sz="2499" spc="-122">
                <a:solidFill>
                  <a:srgbClr val="000000"/>
                </a:solidFill>
                <a:latin typeface="TT Interphases"/>
                <a:ea typeface="TT Interphases"/>
                <a:cs typeface="TT Interphases"/>
                <a:sym typeface="TT Interphases"/>
              </a:rPr>
              <a:t>Formulated null and alternative hypothesis and tested the data</a:t>
            </a:r>
          </a:p>
        </p:txBody>
      </p:sp>
      <p:sp>
        <p:nvSpPr>
          <p:cNvPr id="9" name="TextBox 9"/>
          <p:cNvSpPr txBox="1"/>
          <p:nvPr/>
        </p:nvSpPr>
        <p:spPr>
          <a:xfrm>
            <a:off x="6872403" y="6309870"/>
            <a:ext cx="4273073" cy="596901"/>
          </a:xfrm>
          <a:prstGeom prst="rect">
            <a:avLst/>
          </a:prstGeom>
        </p:spPr>
        <p:txBody>
          <a:bodyPr lIns="0" tIns="0" rIns="0" bIns="0" rtlCol="0" anchor="t">
            <a:spAutoFit/>
          </a:bodyPr>
          <a:lstStyle/>
          <a:p>
            <a:pPr algn="l">
              <a:lnSpc>
                <a:spcPts val="4899"/>
              </a:lnSpc>
            </a:pPr>
            <a:r>
              <a:rPr lang="en-US" sz="3499" b="1" spc="-171">
                <a:solidFill>
                  <a:srgbClr val="000000"/>
                </a:solidFill>
                <a:latin typeface="TT Interphases Bold"/>
                <a:ea typeface="TT Interphases Bold"/>
                <a:cs typeface="TT Interphases Bold"/>
                <a:sym typeface="TT Interphases Bold"/>
              </a:rPr>
              <a:t>Hypothesis Testing</a:t>
            </a:r>
          </a:p>
        </p:txBody>
      </p:sp>
      <p:sp>
        <p:nvSpPr>
          <p:cNvPr id="10" name="TextBox 10"/>
          <p:cNvSpPr txBox="1"/>
          <p:nvPr/>
        </p:nvSpPr>
        <p:spPr>
          <a:xfrm>
            <a:off x="13185537" y="7857588"/>
            <a:ext cx="4273073" cy="1736725"/>
          </a:xfrm>
          <a:prstGeom prst="rect">
            <a:avLst/>
          </a:prstGeom>
        </p:spPr>
        <p:txBody>
          <a:bodyPr lIns="0" tIns="0" rIns="0" bIns="0" rtlCol="0" anchor="t">
            <a:spAutoFit/>
          </a:bodyPr>
          <a:lstStyle/>
          <a:p>
            <a:pPr algn="l">
              <a:lnSpc>
                <a:spcPts val="3499"/>
              </a:lnSpc>
            </a:pPr>
            <a:r>
              <a:rPr lang="en-US" sz="2499" spc="-122">
                <a:solidFill>
                  <a:srgbClr val="000000"/>
                </a:solidFill>
                <a:latin typeface="TT Interphases"/>
                <a:ea typeface="TT Interphases"/>
                <a:cs typeface="TT Interphases"/>
                <a:sym typeface="TT Interphases"/>
              </a:rPr>
              <a:t>From the visualizations and hypothesis testing results, we  made inferences for better success of the movies studio</a:t>
            </a:r>
          </a:p>
        </p:txBody>
      </p:sp>
      <p:sp>
        <p:nvSpPr>
          <p:cNvPr id="11" name="TextBox 11"/>
          <p:cNvSpPr txBox="1"/>
          <p:nvPr/>
        </p:nvSpPr>
        <p:spPr>
          <a:xfrm>
            <a:off x="13323877" y="5735195"/>
            <a:ext cx="4273073" cy="1216026"/>
          </a:xfrm>
          <a:prstGeom prst="rect">
            <a:avLst/>
          </a:prstGeom>
        </p:spPr>
        <p:txBody>
          <a:bodyPr lIns="0" tIns="0" rIns="0" bIns="0" rtlCol="0" anchor="t">
            <a:spAutoFit/>
          </a:bodyPr>
          <a:lstStyle/>
          <a:p>
            <a:pPr algn="l">
              <a:lnSpc>
                <a:spcPts val="4899"/>
              </a:lnSpc>
            </a:pPr>
            <a:r>
              <a:rPr lang="en-US" sz="3499" b="1" spc="-171">
                <a:solidFill>
                  <a:srgbClr val="000000"/>
                </a:solidFill>
                <a:latin typeface="TT Interphases Bold"/>
                <a:ea typeface="TT Interphases Bold"/>
                <a:cs typeface="TT Interphases Bold"/>
                <a:sym typeface="TT Interphases Bold"/>
              </a:rPr>
              <a:t>Findings and Recommendations</a:t>
            </a:r>
          </a:p>
        </p:txBody>
      </p:sp>
      <p:sp>
        <p:nvSpPr>
          <p:cNvPr id="12" name="Freeform 12"/>
          <p:cNvSpPr/>
          <p:nvPr/>
        </p:nvSpPr>
        <p:spPr>
          <a:xfrm>
            <a:off x="12009637" y="7295361"/>
            <a:ext cx="291723" cy="202084"/>
          </a:xfrm>
          <a:custGeom>
            <a:avLst/>
            <a:gdLst/>
            <a:ahLst/>
            <a:cxnLst/>
            <a:rect l="l" t="t" r="r" b="b"/>
            <a:pathLst>
              <a:path w="291723" h="202084">
                <a:moveTo>
                  <a:pt x="0" y="0"/>
                </a:moveTo>
                <a:lnTo>
                  <a:pt x="291723" y="0"/>
                </a:lnTo>
                <a:lnTo>
                  <a:pt x="291723" y="202085"/>
                </a:lnTo>
                <a:lnTo>
                  <a:pt x="0" y="2020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10110854" y="1028700"/>
            <a:ext cx="7148446" cy="4185090"/>
          </a:xfrm>
          <a:custGeom>
            <a:avLst/>
            <a:gdLst/>
            <a:ahLst/>
            <a:cxnLst/>
            <a:rect l="l" t="t" r="r" b="b"/>
            <a:pathLst>
              <a:path w="7148446" h="4185090">
                <a:moveTo>
                  <a:pt x="0" y="0"/>
                </a:moveTo>
                <a:lnTo>
                  <a:pt x="7148446" y="0"/>
                </a:lnTo>
                <a:lnTo>
                  <a:pt x="7148446" y="4185090"/>
                </a:lnTo>
                <a:lnTo>
                  <a:pt x="0" y="41850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76400" y="826847"/>
            <a:ext cx="10363200" cy="9193453"/>
          </a:xfrm>
          <a:custGeom>
            <a:avLst/>
            <a:gdLst/>
            <a:ahLst/>
            <a:cxnLst/>
            <a:rect l="l" t="t" r="r" b="b"/>
            <a:pathLst>
              <a:path w="9751512" h="9113841">
                <a:moveTo>
                  <a:pt x="0" y="0"/>
                </a:moveTo>
                <a:lnTo>
                  <a:pt x="9751512" y="0"/>
                </a:lnTo>
                <a:lnTo>
                  <a:pt x="9751512" y="9113841"/>
                </a:lnTo>
                <a:lnTo>
                  <a:pt x="0" y="9113841"/>
                </a:lnTo>
                <a:lnTo>
                  <a:pt x="0" y="0"/>
                </a:lnTo>
                <a:close/>
              </a:path>
            </a:pathLst>
          </a:custGeom>
          <a:blipFill>
            <a:blip r:embed="rId2"/>
            <a:stretch>
              <a:fillRect t="-4922" r="-925" b="-1114"/>
            </a:stretch>
          </a:blipFill>
        </p:spPr>
      </p:sp>
      <p:sp>
        <p:nvSpPr>
          <p:cNvPr id="3" name="TextBox 3"/>
          <p:cNvSpPr txBox="1"/>
          <p:nvPr/>
        </p:nvSpPr>
        <p:spPr>
          <a:xfrm>
            <a:off x="5192658" y="-76200"/>
            <a:ext cx="7902683" cy="679451"/>
          </a:xfrm>
          <a:prstGeom prst="rect">
            <a:avLst/>
          </a:prstGeom>
        </p:spPr>
        <p:txBody>
          <a:bodyPr lIns="0" tIns="0" rIns="0" bIns="0" rtlCol="0" anchor="t">
            <a:spAutoFit/>
          </a:bodyPr>
          <a:lstStyle/>
          <a:p>
            <a:pPr algn="ctr">
              <a:lnSpc>
                <a:spcPts val="5599"/>
              </a:lnSpc>
              <a:spcBef>
                <a:spcPct val="0"/>
              </a:spcBef>
            </a:pPr>
            <a:r>
              <a:rPr lang="en-US" sz="3999" spc="-195">
                <a:solidFill>
                  <a:srgbClr val="000000"/>
                </a:solidFill>
                <a:latin typeface="TT Interphases"/>
                <a:ea typeface="TT Interphases"/>
                <a:cs typeface="TT Interphases"/>
                <a:sym typeface="TT Interphases"/>
              </a:rPr>
              <a:t>Top 10 movies by worldwide gross</a:t>
            </a:r>
          </a:p>
        </p:txBody>
      </p:sp>
      <p:sp>
        <p:nvSpPr>
          <p:cNvPr id="4" name="TextBox 4"/>
          <p:cNvSpPr txBox="1"/>
          <p:nvPr/>
        </p:nvSpPr>
        <p:spPr>
          <a:xfrm>
            <a:off x="13944600" y="2669905"/>
            <a:ext cx="4009337" cy="6063968"/>
          </a:xfrm>
          <a:prstGeom prst="rect">
            <a:avLst/>
          </a:prstGeom>
        </p:spPr>
        <p:txBody>
          <a:bodyPr wrap="square" lIns="0" tIns="0" rIns="0" bIns="0" rtlCol="0" anchor="t">
            <a:spAutoFit/>
          </a:bodyPr>
          <a:lstStyle/>
          <a:p>
            <a:pPr algn="ctr">
              <a:lnSpc>
                <a:spcPts val="5314"/>
              </a:lnSpc>
            </a:pPr>
            <a:r>
              <a:rPr lang="en-US" sz="2800" spc="-185" dirty="0">
                <a:solidFill>
                  <a:srgbClr val="000000"/>
                </a:solidFill>
                <a:latin typeface="TT Interphases"/>
                <a:ea typeface="TT Interphases"/>
                <a:cs typeface="TT Interphases"/>
                <a:sym typeface="TT Interphases"/>
              </a:rPr>
              <a:t>Insight:</a:t>
            </a:r>
          </a:p>
          <a:p>
            <a:pPr algn="ctr">
              <a:lnSpc>
                <a:spcPts val="5314"/>
              </a:lnSpc>
            </a:pPr>
            <a:endParaRPr lang="en-US" sz="2800" spc="-185" dirty="0">
              <a:solidFill>
                <a:srgbClr val="000000"/>
              </a:solidFill>
              <a:latin typeface="TT Interphases"/>
              <a:ea typeface="TT Interphases"/>
              <a:cs typeface="TT Interphases"/>
              <a:sym typeface="TT Interphases"/>
            </a:endParaRPr>
          </a:p>
          <a:p>
            <a:pPr algn="ctr">
              <a:lnSpc>
                <a:spcPts val="5314"/>
              </a:lnSpc>
            </a:pPr>
            <a:r>
              <a:rPr lang="en-US" sz="2800" spc="-185" dirty="0">
                <a:solidFill>
                  <a:srgbClr val="000000"/>
                </a:solidFill>
                <a:latin typeface="TT Interphases"/>
                <a:ea typeface="TT Interphases"/>
                <a:cs typeface="TT Interphases"/>
                <a:sym typeface="TT Interphases"/>
              </a:rPr>
              <a:t>Sci-Fi and Hero movies populate the top 10 movies in the worldwide gross.</a:t>
            </a:r>
          </a:p>
          <a:p>
            <a:pPr algn="ctr">
              <a:lnSpc>
                <a:spcPts val="5314"/>
              </a:lnSpc>
            </a:pPr>
            <a:endParaRPr lang="en-US" sz="3795" spc="-185" dirty="0">
              <a:solidFill>
                <a:srgbClr val="000000"/>
              </a:solidFill>
              <a:latin typeface="TT Interphases"/>
              <a:ea typeface="TT Interphases"/>
              <a:cs typeface="TT Interphases"/>
              <a:sym typeface="TT Interphases"/>
            </a:endParaRPr>
          </a:p>
          <a:p>
            <a:pPr algn="ctr">
              <a:lnSpc>
                <a:spcPts val="5314"/>
              </a:lnSpc>
            </a:pPr>
            <a:endParaRPr lang="en-US" sz="3795" spc="-185" dirty="0">
              <a:solidFill>
                <a:srgbClr val="000000"/>
              </a:solidFill>
              <a:latin typeface="TT Interphases"/>
              <a:ea typeface="TT Interphases"/>
              <a:cs typeface="TT Interphases"/>
              <a:sym typeface="TT Interphases"/>
            </a:endParaRPr>
          </a:p>
          <a:p>
            <a:pPr algn="ctr">
              <a:lnSpc>
                <a:spcPts val="5314"/>
              </a:lnSpc>
            </a:pPr>
            <a:endParaRPr lang="en-US" sz="3795" spc="-185" dirty="0">
              <a:solidFill>
                <a:srgbClr val="000000"/>
              </a:solidFill>
              <a:latin typeface="TT Interphases"/>
              <a:ea typeface="TT Interphases"/>
              <a:cs typeface="TT Interphases"/>
              <a:sym typeface="TT Interphases"/>
            </a:endParaRPr>
          </a:p>
          <a:p>
            <a:pPr algn="ctr">
              <a:lnSpc>
                <a:spcPts val="5314"/>
              </a:lnSpc>
              <a:spcBef>
                <a:spcPct val="0"/>
              </a:spcBef>
            </a:pPr>
            <a:endParaRPr lang="en-US" sz="3795" spc="-185" dirty="0">
              <a:solidFill>
                <a:srgbClr val="000000"/>
              </a:solidFill>
              <a:latin typeface="TT Interphases"/>
              <a:ea typeface="TT Interphases"/>
              <a:cs typeface="TT Interphases"/>
              <a:sym typeface="TT Interphase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1618" y="603251"/>
            <a:ext cx="11579982" cy="9683749"/>
          </a:xfrm>
          <a:custGeom>
            <a:avLst/>
            <a:gdLst/>
            <a:ahLst/>
            <a:cxnLst/>
            <a:rect l="l" t="t" r="r" b="b"/>
            <a:pathLst>
              <a:path w="10783537" h="9377408">
                <a:moveTo>
                  <a:pt x="0" y="0"/>
                </a:moveTo>
                <a:lnTo>
                  <a:pt x="10783537" y="0"/>
                </a:lnTo>
                <a:lnTo>
                  <a:pt x="10783537" y="9377408"/>
                </a:lnTo>
                <a:lnTo>
                  <a:pt x="0" y="9377408"/>
                </a:lnTo>
                <a:lnTo>
                  <a:pt x="0" y="0"/>
                </a:lnTo>
                <a:close/>
              </a:path>
            </a:pathLst>
          </a:custGeom>
          <a:blipFill>
            <a:blip r:embed="rId2"/>
            <a:stretch>
              <a:fillRect t="-747" b="-747"/>
            </a:stretch>
          </a:blipFill>
        </p:spPr>
      </p:sp>
      <p:sp>
        <p:nvSpPr>
          <p:cNvPr id="3" name="TextBox 3"/>
          <p:cNvSpPr txBox="1"/>
          <p:nvPr/>
        </p:nvSpPr>
        <p:spPr>
          <a:xfrm>
            <a:off x="6765168" y="-76200"/>
            <a:ext cx="6234999" cy="679451"/>
          </a:xfrm>
          <a:prstGeom prst="rect">
            <a:avLst/>
          </a:prstGeom>
        </p:spPr>
        <p:txBody>
          <a:bodyPr lIns="0" tIns="0" rIns="0" bIns="0" rtlCol="0" anchor="t">
            <a:spAutoFit/>
          </a:bodyPr>
          <a:lstStyle/>
          <a:p>
            <a:pPr algn="ctr">
              <a:lnSpc>
                <a:spcPts val="5599"/>
              </a:lnSpc>
              <a:spcBef>
                <a:spcPct val="0"/>
              </a:spcBef>
            </a:pPr>
            <a:r>
              <a:rPr lang="en-US" sz="3999" spc="-195">
                <a:solidFill>
                  <a:srgbClr val="000000"/>
                </a:solidFill>
                <a:latin typeface="TT Interphases"/>
                <a:ea typeface="TT Interphases"/>
                <a:cs typeface="TT Interphases"/>
                <a:sym typeface="TT Interphases"/>
              </a:rPr>
              <a:t>Most Watched Genres</a:t>
            </a:r>
          </a:p>
        </p:txBody>
      </p:sp>
      <p:sp>
        <p:nvSpPr>
          <p:cNvPr id="4" name="TextBox 4"/>
          <p:cNvSpPr txBox="1"/>
          <p:nvPr/>
        </p:nvSpPr>
        <p:spPr>
          <a:xfrm>
            <a:off x="13000167" y="3270082"/>
            <a:ext cx="5287833" cy="2923493"/>
          </a:xfrm>
          <a:prstGeom prst="rect">
            <a:avLst/>
          </a:prstGeom>
        </p:spPr>
        <p:txBody>
          <a:bodyPr wrap="square" lIns="0" tIns="0" rIns="0" bIns="0" rtlCol="0" anchor="t">
            <a:spAutoFit/>
          </a:bodyPr>
          <a:lstStyle/>
          <a:p>
            <a:pPr algn="ctr">
              <a:lnSpc>
                <a:spcPts val="5869"/>
              </a:lnSpc>
            </a:pPr>
            <a:r>
              <a:rPr lang="en-US" sz="2800" spc="-205" dirty="0">
                <a:solidFill>
                  <a:srgbClr val="000000"/>
                </a:solidFill>
                <a:latin typeface="TT Interphases"/>
                <a:ea typeface="TT Interphases"/>
                <a:cs typeface="TT Interphases"/>
                <a:sym typeface="TT Interphases"/>
              </a:rPr>
              <a:t>Insight:</a:t>
            </a:r>
          </a:p>
          <a:p>
            <a:pPr algn="ctr">
              <a:lnSpc>
                <a:spcPts val="5869"/>
              </a:lnSpc>
            </a:pPr>
            <a:endParaRPr lang="en-US" sz="2800" spc="-205" dirty="0">
              <a:solidFill>
                <a:srgbClr val="000000"/>
              </a:solidFill>
              <a:latin typeface="TT Interphases"/>
              <a:ea typeface="TT Interphases"/>
              <a:cs typeface="TT Interphases"/>
              <a:sym typeface="TT Interphases"/>
            </a:endParaRPr>
          </a:p>
          <a:p>
            <a:pPr algn="ctr">
              <a:lnSpc>
                <a:spcPts val="5869"/>
              </a:lnSpc>
              <a:spcBef>
                <a:spcPct val="0"/>
              </a:spcBef>
            </a:pPr>
            <a:r>
              <a:rPr lang="en-US" sz="2800" spc="-205" dirty="0">
                <a:solidFill>
                  <a:srgbClr val="000000"/>
                </a:solidFill>
                <a:latin typeface="TT Interphases"/>
                <a:ea typeface="TT Interphases"/>
                <a:cs typeface="TT Interphases"/>
                <a:sym typeface="TT Interphases"/>
              </a:rPr>
              <a:t>Drama Genre has the highest demand compared to other genres.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2500" y="-5443"/>
            <a:ext cx="16383000" cy="8648699"/>
          </a:xfrm>
          <a:custGeom>
            <a:avLst/>
            <a:gdLst/>
            <a:ahLst/>
            <a:cxnLst/>
            <a:rect l="l" t="t" r="r" b="b"/>
            <a:pathLst>
              <a:path w="14063793" h="7578263">
                <a:moveTo>
                  <a:pt x="0" y="0"/>
                </a:moveTo>
                <a:lnTo>
                  <a:pt x="14063794" y="0"/>
                </a:lnTo>
                <a:lnTo>
                  <a:pt x="14063794" y="7578263"/>
                </a:lnTo>
                <a:lnTo>
                  <a:pt x="0" y="7578263"/>
                </a:lnTo>
                <a:lnTo>
                  <a:pt x="0" y="0"/>
                </a:lnTo>
                <a:close/>
              </a:path>
            </a:pathLst>
          </a:custGeom>
          <a:blipFill>
            <a:blip r:embed="rId2"/>
            <a:stretch>
              <a:fillRect l="-252" t="-993" r="-252"/>
            </a:stretch>
          </a:blipFill>
        </p:spPr>
      </p:sp>
      <p:sp>
        <p:nvSpPr>
          <p:cNvPr id="3" name="TextBox 3"/>
          <p:cNvSpPr txBox="1"/>
          <p:nvPr/>
        </p:nvSpPr>
        <p:spPr>
          <a:xfrm>
            <a:off x="3886200" y="8648699"/>
            <a:ext cx="11359530" cy="1985928"/>
          </a:xfrm>
          <a:prstGeom prst="rect">
            <a:avLst/>
          </a:prstGeom>
        </p:spPr>
        <p:txBody>
          <a:bodyPr wrap="square" lIns="0" tIns="0" rIns="0" bIns="0" rtlCol="0" anchor="t">
            <a:spAutoFit/>
          </a:bodyPr>
          <a:lstStyle/>
          <a:p>
            <a:pPr algn="l">
              <a:lnSpc>
                <a:spcPts val="5314"/>
              </a:lnSpc>
            </a:pPr>
            <a:r>
              <a:rPr lang="en-US" sz="2800" spc="-185" dirty="0">
                <a:solidFill>
                  <a:srgbClr val="000000"/>
                </a:solidFill>
                <a:latin typeface="TT Interphases"/>
                <a:ea typeface="TT Interphases"/>
                <a:cs typeface="TT Interphases"/>
                <a:sym typeface="TT Interphases"/>
              </a:rPr>
              <a:t>Insight:</a:t>
            </a:r>
          </a:p>
          <a:p>
            <a:pPr algn="l">
              <a:lnSpc>
                <a:spcPts val="5314"/>
              </a:lnSpc>
            </a:pPr>
            <a:r>
              <a:rPr lang="en-US" sz="2800" spc="-185" dirty="0">
                <a:solidFill>
                  <a:srgbClr val="000000"/>
                </a:solidFill>
                <a:latin typeface="TT Interphases"/>
                <a:ea typeface="TT Interphases"/>
                <a:cs typeface="TT Interphases"/>
                <a:sym typeface="TT Interphases"/>
              </a:rPr>
              <a:t>Worldwide gross has higher revenue as compared to the domestic gross</a:t>
            </a:r>
          </a:p>
          <a:p>
            <a:pPr algn="l">
              <a:lnSpc>
                <a:spcPts val="5314"/>
              </a:lnSpc>
              <a:spcBef>
                <a:spcPct val="0"/>
              </a:spcBef>
            </a:pPr>
            <a:endParaRPr lang="en-US" sz="3795" spc="-185" dirty="0">
              <a:solidFill>
                <a:srgbClr val="000000"/>
              </a:solidFill>
              <a:latin typeface="TT Interphases"/>
              <a:ea typeface="TT Interphases"/>
              <a:cs typeface="TT Interphases"/>
              <a:sym typeface="TT Interphase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5642370"/>
            <a:ext cx="7195906" cy="4644630"/>
          </a:xfrm>
          <a:custGeom>
            <a:avLst/>
            <a:gdLst/>
            <a:ahLst/>
            <a:cxnLst/>
            <a:rect l="l" t="t" r="r" b="b"/>
            <a:pathLst>
              <a:path w="7195906" h="4644630">
                <a:moveTo>
                  <a:pt x="0" y="0"/>
                </a:moveTo>
                <a:lnTo>
                  <a:pt x="7195906" y="0"/>
                </a:lnTo>
                <a:lnTo>
                  <a:pt x="7195906" y="4644630"/>
                </a:lnTo>
                <a:lnTo>
                  <a:pt x="0" y="4644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50603" y="2644660"/>
            <a:ext cx="8793397" cy="1054610"/>
          </a:xfrm>
          <a:prstGeom prst="rect">
            <a:avLst/>
          </a:prstGeom>
        </p:spPr>
        <p:txBody>
          <a:bodyPr lIns="0" tIns="0" rIns="0" bIns="0" rtlCol="0" anchor="t">
            <a:spAutoFit/>
          </a:bodyPr>
          <a:lstStyle/>
          <a:p>
            <a:pPr algn="l">
              <a:lnSpc>
                <a:spcPts val="7656"/>
              </a:lnSpc>
            </a:pPr>
            <a:r>
              <a:rPr lang="en-US" sz="8800" spc="-431">
                <a:solidFill>
                  <a:srgbClr val="000000"/>
                </a:solidFill>
                <a:latin typeface="TT Interphases"/>
                <a:ea typeface="TT Interphases"/>
                <a:cs typeface="TT Interphases"/>
                <a:sym typeface="TT Interphases"/>
              </a:rPr>
              <a:t>Recommendations</a:t>
            </a:r>
          </a:p>
        </p:txBody>
      </p:sp>
      <p:sp>
        <p:nvSpPr>
          <p:cNvPr id="5" name="TextBox 5"/>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
        <p:nvSpPr>
          <p:cNvPr id="6" name="TextBox 6"/>
          <p:cNvSpPr txBox="1"/>
          <p:nvPr/>
        </p:nvSpPr>
        <p:spPr>
          <a:xfrm>
            <a:off x="9148754" y="1781398"/>
            <a:ext cx="9139246" cy="7109783"/>
          </a:xfrm>
          <a:prstGeom prst="rect">
            <a:avLst/>
          </a:prstGeom>
        </p:spPr>
        <p:txBody>
          <a:bodyPr lIns="0" tIns="0" rIns="0" bIns="0" rtlCol="0" anchor="t">
            <a:spAutoFit/>
          </a:bodyPr>
          <a:lstStyle/>
          <a:p>
            <a:pPr algn="ctr">
              <a:lnSpc>
                <a:spcPts val="4321"/>
              </a:lnSpc>
              <a:spcBef>
                <a:spcPct val="0"/>
              </a:spcBef>
            </a:pPr>
            <a:r>
              <a:rPr lang="en-US" sz="3086" spc="-151">
                <a:solidFill>
                  <a:srgbClr val="000000"/>
                </a:solidFill>
                <a:latin typeface="TT Interphases"/>
                <a:ea typeface="TT Interphases"/>
                <a:cs typeface="TT Interphases"/>
                <a:sym typeface="TT Interphases"/>
              </a:rPr>
              <a:t>The studio should contain movies such as The gallows that fall under WB (NL) .</a:t>
            </a:r>
          </a:p>
          <a:p>
            <a:pPr algn="ctr">
              <a:lnSpc>
                <a:spcPts val="4321"/>
              </a:lnSpc>
              <a:spcBef>
                <a:spcPct val="0"/>
              </a:spcBef>
            </a:pPr>
            <a:endParaRPr lang="en-US" sz="3086" spc="-151">
              <a:solidFill>
                <a:srgbClr val="000000"/>
              </a:solidFill>
              <a:latin typeface="TT Interphases"/>
              <a:ea typeface="TT Interphases"/>
              <a:cs typeface="TT Interphases"/>
              <a:sym typeface="TT Interphases"/>
            </a:endParaRPr>
          </a:p>
          <a:p>
            <a:pPr algn="ctr">
              <a:lnSpc>
                <a:spcPts val="4321"/>
              </a:lnSpc>
              <a:spcBef>
                <a:spcPct val="0"/>
              </a:spcBef>
            </a:pPr>
            <a:r>
              <a:rPr lang="en-US" sz="3086" spc="-151">
                <a:solidFill>
                  <a:srgbClr val="000000"/>
                </a:solidFill>
                <a:latin typeface="TT Interphases"/>
                <a:ea typeface="TT Interphases"/>
                <a:cs typeface="TT Interphases"/>
                <a:sym typeface="TT Interphases"/>
              </a:rPr>
              <a:t>For high chances of success the studio should consider high budget movies which tend to have a greater success.</a:t>
            </a:r>
          </a:p>
          <a:p>
            <a:pPr algn="ctr">
              <a:lnSpc>
                <a:spcPts val="4321"/>
              </a:lnSpc>
              <a:spcBef>
                <a:spcPct val="0"/>
              </a:spcBef>
            </a:pPr>
            <a:endParaRPr lang="en-US" sz="3086" spc="-151">
              <a:solidFill>
                <a:srgbClr val="000000"/>
              </a:solidFill>
              <a:latin typeface="TT Interphases"/>
              <a:ea typeface="TT Interphases"/>
              <a:cs typeface="TT Interphases"/>
              <a:sym typeface="TT Interphases"/>
            </a:endParaRPr>
          </a:p>
          <a:p>
            <a:pPr algn="ctr">
              <a:lnSpc>
                <a:spcPts val="4321"/>
              </a:lnSpc>
              <a:spcBef>
                <a:spcPct val="0"/>
              </a:spcBef>
            </a:pPr>
            <a:r>
              <a:rPr lang="en-US" sz="3086" spc="-151">
                <a:solidFill>
                  <a:srgbClr val="000000"/>
                </a:solidFill>
                <a:latin typeface="TT Interphases"/>
                <a:ea typeface="TT Interphases"/>
                <a:cs typeface="TT Interphases"/>
                <a:sym typeface="TT Interphases"/>
              </a:rPr>
              <a:t>The studio should invest in Sci-Fi and Hero genres since they have the highest demand.</a:t>
            </a:r>
          </a:p>
          <a:p>
            <a:pPr algn="ctr">
              <a:lnSpc>
                <a:spcPts val="4321"/>
              </a:lnSpc>
              <a:spcBef>
                <a:spcPct val="0"/>
              </a:spcBef>
            </a:pPr>
            <a:endParaRPr lang="en-US" sz="3086" spc="-151">
              <a:solidFill>
                <a:srgbClr val="000000"/>
              </a:solidFill>
              <a:latin typeface="TT Interphases"/>
              <a:ea typeface="TT Interphases"/>
              <a:cs typeface="TT Interphases"/>
              <a:sym typeface="TT Interphases"/>
            </a:endParaRPr>
          </a:p>
          <a:p>
            <a:pPr algn="ctr">
              <a:lnSpc>
                <a:spcPts val="4321"/>
              </a:lnSpc>
              <a:spcBef>
                <a:spcPct val="0"/>
              </a:spcBef>
            </a:pPr>
            <a:r>
              <a:rPr lang="en-US" sz="3086" spc="-151">
                <a:solidFill>
                  <a:srgbClr val="000000"/>
                </a:solidFill>
                <a:latin typeface="TT Interphases"/>
                <a:ea typeface="TT Interphases"/>
                <a:cs typeface="TT Interphases"/>
                <a:sym typeface="TT Interphases"/>
              </a:rPr>
              <a:t>The studio should consider world wide movies since they tend to have a greater income compared to the others.</a:t>
            </a:r>
          </a:p>
          <a:p>
            <a:pPr algn="ctr">
              <a:lnSpc>
                <a:spcPts val="4321"/>
              </a:lnSpc>
              <a:spcBef>
                <a:spcPct val="0"/>
              </a:spcBef>
            </a:pPr>
            <a:endParaRPr lang="en-US" sz="3086" spc="-151">
              <a:solidFill>
                <a:srgbClr val="000000"/>
              </a:solidFill>
              <a:latin typeface="TT Interphases"/>
              <a:ea typeface="TT Interphases"/>
              <a:cs typeface="TT Interphases"/>
              <a:sym typeface="TT Interphases"/>
            </a:endParaRPr>
          </a:p>
          <a:p>
            <a:pPr algn="ctr">
              <a:lnSpc>
                <a:spcPts val="4321"/>
              </a:lnSpc>
              <a:spcBef>
                <a:spcPct val="0"/>
              </a:spcBef>
            </a:pPr>
            <a:endParaRPr lang="en-US" sz="3086" spc="-151">
              <a:solidFill>
                <a:srgbClr val="000000"/>
              </a:solidFill>
              <a:latin typeface="TT Interphases"/>
              <a:ea typeface="TT Interphases"/>
              <a:cs typeface="TT Interphases"/>
              <a:sym typeface="TT Interphase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479829" y="1028700"/>
            <a:ext cx="5779471" cy="4550020"/>
          </a:xfrm>
          <a:custGeom>
            <a:avLst/>
            <a:gdLst/>
            <a:ahLst/>
            <a:cxnLst/>
            <a:rect l="l" t="t" r="r" b="b"/>
            <a:pathLst>
              <a:path w="5779471" h="4550020">
                <a:moveTo>
                  <a:pt x="0" y="0"/>
                </a:moveTo>
                <a:lnTo>
                  <a:pt x="5779471" y="0"/>
                </a:lnTo>
                <a:lnTo>
                  <a:pt x="5779471" y="4550020"/>
                </a:lnTo>
                <a:lnTo>
                  <a:pt x="0" y="45500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3589460"/>
            <a:ext cx="8473720" cy="1054610"/>
          </a:xfrm>
          <a:prstGeom prst="rect">
            <a:avLst/>
          </a:prstGeom>
        </p:spPr>
        <p:txBody>
          <a:bodyPr lIns="0" tIns="0" rIns="0" bIns="0" rtlCol="0" anchor="t">
            <a:spAutoFit/>
          </a:bodyPr>
          <a:lstStyle/>
          <a:p>
            <a:pPr algn="l">
              <a:lnSpc>
                <a:spcPts val="7656"/>
              </a:lnSpc>
            </a:pPr>
            <a:r>
              <a:rPr lang="en-US" sz="8800" spc="-431">
                <a:solidFill>
                  <a:srgbClr val="000000"/>
                </a:solidFill>
                <a:latin typeface="TT Interphases"/>
                <a:ea typeface="TT Interphases"/>
                <a:cs typeface="TT Interphases"/>
                <a:sym typeface="TT Interphases"/>
              </a:rPr>
              <a:t>Conclusion</a:t>
            </a:r>
          </a:p>
        </p:txBody>
      </p:sp>
      <p:sp>
        <p:nvSpPr>
          <p:cNvPr id="5" name="TextBox 5"/>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
        <p:nvSpPr>
          <p:cNvPr id="6" name="TextBox 6"/>
          <p:cNvSpPr txBox="1"/>
          <p:nvPr/>
        </p:nvSpPr>
        <p:spPr>
          <a:xfrm>
            <a:off x="951148" y="5512045"/>
            <a:ext cx="10528681" cy="2380616"/>
          </a:xfrm>
          <a:prstGeom prst="rect">
            <a:avLst/>
          </a:prstGeom>
        </p:spPr>
        <p:txBody>
          <a:bodyPr lIns="0" tIns="0" rIns="0" bIns="0" rtlCol="0" anchor="t">
            <a:spAutoFit/>
          </a:bodyPr>
          <a:lstStyle/>
          <a:p>
            <a:pPr algn="l">
              <a:lnSpc>
                <a:spcPts val="4759"/>
              </a:lnSpc>
            </a:pPr>
            <a:r>
              <a:rPr lang="en-US" sz="3399" spc="-166">
                <a:solidFill>
                  <a:srgbClr val="000000"/>
                </a:solidFill>
                <a:latin typeface="TT Interphases"/>
                <a:ea typeface="TT Interphases"/>
                <a:cs typeface="TT Interphases"/>
                <a:sym typeface="TT Interphases"/>
              </a:rPr>
              <a:t>The studio should focus on Sci-fi and Drama Genres .It should also  produce movies that appeal to the worldwide market. The studio should heavily invest in movies to increase chances of success.</a:t>
            </a:r>
          </a:p>
        </p:txBody>
      </p:sp>
      <p:sp>
        <p:nvSpPr>
          <p:cNvPr id="7" name="Freeform 7"/>
          <p:cNvSpPr/>
          <p:nvPr/>
        </p:nvSpPr>
        <p:spPr>
          <a:xfrm rot="-5400000">
            <a:off x="8253798" y="-184836"/>
            <a:ext cx="969594" cy="3396666"/>
          </a:xfrm>
          <a:custGeom>
            <a:avLst/>
            <a:gdLst/>
            <a:ahLst/>
            <a:cxnLst/>
            <a:rect l="l" t="t" r="r" b="b"/>
            <a:pathLst>
              <a:path w="969594" h="3396666">
                <a:moveTo>
                  <a:pt x="0" y="0"/>
                </a:moveTo>
                <a:lnTo>
                  <a:pt x="969594" y="0"/>
                </a:lnTo>
                <a:lnTo>
                  <a:pt x="969594" y="3396666"/>
                </a:lnTo>
                <a:lnTo>
                  <a:pt x="0" y="33966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999665" y="1028700"/>
            <a:ext cx="8259635" cy="8229600"/>
          </a:xfrm>
          <a:custGeom>
            <a:avLst/>
            <a:gdLst/>
            <a:ahLst/>
            <a:cxnLst/>
            <a:rect l="l" t="t" r="r" b="b"/>
            <a:pathLst>
              <a:path w="8259635" h="8229600">
                <a:moveTo>
                  <a:pt x="0" y="0"/>
                </a:moveTo>
                <a:lnTo>
                  <a:pt x="8259635" y="0"/>
                </a:lnTo>
                <a:lnTo>
                  <a:pt x="8259635"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4489901"/>
            <a:ext cx="8332616" cy="1745348"/>
          </a:xfrm>
          <a:prstGeom prst="rect">
            <a:avLst/>
          </a:prstGeom>
        </p:spPr>
        <p:txBody>
          <a:bodyPr lIns="0" tIns="0" rIns="0" bIns="0" rtlCol="0" anchor="t">
            <a:spAutoFit/>
          </a:bodyPr>
          <a:lstStyle/>
          <a:p>
            <a:pPr algn="l">
              <a:lnSpc>
                <a:spcPts val="12524"/>
              </a:lnSpc>
            </a:pPr>
            <a:r>
              <a:rPr lang="en-US" sz="14395" spc="-705">
                <a:solidFill>
                  <a:srgbClr val="000000"/>
                </a:solidFill>
                <a:latin typeface="TT Interphases"/>
                <a:ea typeface="TT Interphases"/>
                <a:cs typeface="TT Interphases"/>
                <a:sym typeface="TT Interphases"/>
              </a:rPr>
              <a:t>Thank You</a:t>
            </a:r>
          </a:p>
        </p:txBody>
      </p:sp>
      <p:sp>
        <p:nvSpPr>
          <p:cNvPr id="5" name="TextBox 5"/>
          <p:cNvSpPr txBox="1"/>
          <p:nvPr/>
        </p:nvSpPr>
        <p:spPr>
          <a:xfrm>
            <a:off x="1566219" y="1108262"/>
            <a:ext cx="2033411" cy="259461"/>
          </a:xfrm>
          <a:prstGeom prst="rect">
            <a:avLst/>
          </a:prstGeom>
        </p:spPr>
        <p:txBody>
          <a:bodyPr lIns="0" tIns="0" rIns="0" bIns="0" rtlCol="0" anchor="t">
            <a:spAutoFit/>
          </a:bodyPr>
          <a:lstStyle/>
          <a:p>
            <a:pPr algn="l">
              <a:lnSpc>
                <a:spcPts val="1827"/>
              </a:lnSpc>
            </a:pPr>
            <a:r>
              <a:rPr lang="en-US" sz="2100" spc="-102">
                <a:solidFill>
                  <a:srgbClr val="000000"/>
                </a:solidFill>
                <a:latin typeface="TT Interphases"/>
                <a:ea typeface="TT Interphases"/>
                <a:cs typeface="TT Interphases"/>
                <a:sym typeface="TT Interphases"/>
              </a:rPr>
              <a:t>Group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520</Words>
  <Application>Microsoft Office PowerPoint</Application>
  <PresentationFormat>Custom</PresentationFormat>
  <Paragraphs>78</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TT Interphases Bold Italics</vt:lpstr>
      <vt:lpstr>TT Interphases Italics</vt:lpstr>
      <vt:lpstr>Calibri</vt:lpstr>
      <vt:lpstr>TT Interphases Bold</vt:lpstr>
      <vt:lpstr>Arial</vt:lpstr>
      <vt:lpstr>TT Interphases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3 -KARU Phase 2 Project</dc:title>
  <cp:lastModifiedBy>Benbella Owino</cp:lastModifiedBy>
  <cp:revision>5</cp:revision>
  <dcterms:created xsi:type="dcterms:W3CDTF">2006-08-16T00:00:00Z</dcterms:created>
  <dcterms:modified xsi:type="dcterms:W3CDTF">2025-11-17T05:10:15Z</dcterms:modified>
  <dc:identifier>DAG4qDu-TB4</dc:identifier>
</cp:coreProperties>
</file>